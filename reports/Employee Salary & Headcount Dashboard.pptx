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1" r:id="rId24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6256000" cy="9144000"/>
  <p:notesSz cx="9144000" cy="16256000"/>
  <p:embeddedFontLst>
    <p:embeddedFont>
      <p:font typeface="Liter" charset="-122" pitchFamily="34"/>
      <p:regular r:id="rId22"/>
    </p:embeddedFont>
    <p:embeddedFont>
      <p:font typeface="Quattrocento Sans" charset="-122" pitchFamily="34"/>
      <p:regular r:id="rId23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font" Target="fonts/font1.fntdata"/><Relationship Id="rId23" Type="http://schemas.openxmlformats.org/officeDocument/2006/relationships/font" Target="fonts/font2.fntdata"/><Relationship Id="rId2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Salary (KES)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0F2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Nairobi</c:v>
                  </c:pt>
                  <c:pt idx="1">
                    <c:v>Mombasa</c:v>
                  </c:pt>
                  <c:pt idx="2">
                    <c:v>Kisumu</c:v>
                  </c:pt>
                  <c:pt idx="3">
                    <c:v>Nakuru</c:v>
                  </c:pt>
                  <c:pt idx="4">
                    <c:v>Eldoret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145000</c:v>
                </c:pt>
                <c:pt idx="1">
                  <c:v>120000</c:v>
                </c:pt>
                <c:pt idx="2">
                  <c:v>190500</c:v>
                </c:pt>
                <c:pt idx="3">
                  <c:v>48000</c:v>
                </c:pt>
                <c:pt idx="4">
                  <c:v>51000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0F2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A3544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a3544"/>
              </a:solidFill>
              <a:prstDash val="dash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Salary (KES)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0F2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Nairobi</c:v>
                  </c:pt>
                  <c:pt idx="1">
                    <c:v>Kisumu</c:v>
                  </c:pt>
                  <c:pt idx="2">
                    <c:v>Mombasa</c:v>
                  </c:pt>
                  <c:pt idx="3">
                    <c:v>Eldoret</c:v>
                  </c:pt>
                  <c:pt idx="4">
                    <c:v>Nakuru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72500</c:v>
                </c:pt>
                <c:pt idx="1">
                  <c:v>63500</c:v>
                </c:pt>
                <c:pt idx="2">
                  <c:v>60000</c:v>
                </c:pt>
                <c:pt idx="3">
                  <c:v>51000</c:v>
                </c:pt>
                <c:pt idx="4">
                  <c:v>48000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0F2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0F2F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2a3544"/>
              </a:solidFill>
              <a:prstDash val="dash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5A623"/>
              </a:solidFill>
              <a:effectLst/>
            </c:spPr>
          </c:dPt>
          <c:dPt>
            <c:idx val="1"/>
            <c:bubble3D val="0"/>
            <c:spPr>
              <a:solidFill>
                <a:srgbClr val="2DD4BF"/>
              </a:solidFill>
              <a:effectLst/>
            </c:spPr>
          </c:dPt>
          <c:dPt>
            <c:idx val="2"/>
            <c:bubble3D val="0"/>
            <c:spPr>
              <a:solidFill>
                <a:srgbClr val="5B8DEF"/>
              </a:solidFill>
              <a:effectLst/>
            </c:spPr>
          </c:dPt>
          <c:dPt>
            <c:idx val="3"/>
            <c:bubble3D val="0"/>
            <c:spPr>
              <a:solidFill>
                <a:srgbClr val="A78BFA"/>
              </a:solidFill>
              <a:effectLst/>
            </c:spPr>
          </c:dPt>
          <c:dPt>
            <c:idx val="4"/>
            <c:bubble3D val="0"/>
            <c:spPr>
              <a:solidFill>
                <a:srgbClr val="F472B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400" b="0" i="0" u="none" strike="noStrike">
                      <a:solidFill>
                        <a:srgbClr val="F0F2F5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Kisumu</c:v>
                </c:pt>
                <c:pt idx="1">
                  <c:v>Nairobi</c:v>
                </c:pt>
                <c:pt idx="2">
                  <c:v>Mombasa</c:v>
                </c:pt>
                <c:pt idx="3">
                  <c:v>Eldoret</c:v>
                </c:pt>
                <c:pt idx="4">
                  <c:v>Nakuru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8B95A5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Hires</c:v>
                </c:pt>
              </c:strCache>
            </c:strRef>
          </c:tx>
          <c:spPr>
            <a:solidFill>
              <a:srgbClr val="2DD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0F2F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0F2F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A3544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</c:scaling>
        <c:delete val="0"/>
        <c:axPos val="l"/>
        <c:majorGridlines>
          <c:spPr>
            <a:ln w="12700" cap="flat">
              <a:solidFill>
                <a:srgbClr val="2a3544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1_Modern_Office_Workplace_with_Data.png">    </p:cNvPr>
          <p:cNvPicPr>
            <a:picLocks noChangeAspect="1"/>
          </p:cNvPicPr>
          <p:nvPr/>
        </p:nvPicPr>
        <p:blipFill>
          <a:blip r:embed="rId1"/>
          <a:srcRect l="1444" r="1444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4000"/>
                </a:srgbClr>
              </a:gs>
              <a:gs pos="50000">
                <a:srgbClr val="0F1923">
                  <a:alpha val="82000"/>
                </a:srgbClr>
              </a:gs>
              <a:gs pos="100000">
                <a:srgbClr val="0F1923">
                  <a:alpha val="50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270000" y="33020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2"/>
          <p:cNvSpPr/>
          <p:nvPr/>
        </p:nvSpPr>
        <p:spPr>
          <a:xfrm>
            <a:off x="1270000" y="3556000"/>
            <a:ext cx="8890000" cy="177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5200" spc="4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EMPLOYEE SALARY</a:t>
            </a:r>
            <a:endParaRPr lang="en-US" sz="5200" dirty="0"/>
          </a:p>
          <a:p>
            <a:pPr algn="l">
              <a:lnSpc>
                <a:spcPct val="120000"/>
              </a:lnSpc>
            </a:pPr>
            <a:r>
              <a:rPr lang="en-US" sz="5200" spc="4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&amp; HEADCOUNT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1270000" y="55880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Analysis Report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270000" y="6223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spc="200" kern="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PYTHON  ·  MYSQL  ·  SQL  ·  POWER BI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70000" y="81280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Prepared by Hassan Jumaa (Riq)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spc="3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EXECUTIVE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952500"/>
            <a:ext cx="508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Contents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62000" y="17145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2159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Text 4"/>
          <p:cNvSpPr/>
          <p:nvPr/>
        </p:nvSpPr>
        <p:spPr>
          <a:xfrm>
            <a:off x="1079500" y="2413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079500" y="3302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9500" y="3746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End-to-end workflow from raw data to interactive dashboard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42000" y="2159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Text 8"/>
          <p:cNvSpPr/>
          <p:nvPr/>
        </p:nvSpPr>
        <p:spPr>
          <a:xfrm>
            <a:off x="6159500" y="2413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159500" y="3302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59500" y="3746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Transforming messy data into analysis-ready datasets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0922000" y="2159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Text 12"/>
          <p:cNvSpPr/>
          <p:nvPr/>
        </p:nvSpPr>
        <p:spPr>
          <a:xfrm>
            <a:off x="11239500" y="2413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1239500" y="3302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Metrics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239500" y="3746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Workforce composition and financial summary at a glance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302000" y="5334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Text 16"/>
          <p:cNvSpPr/>
          <p:nvPr/>
        </p:nvSpPr>
        <p:spPr>
          <a:xfrm>
            <a:off x="3619500" y="5588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3619500" y="6477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619500" y="6921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Compensation patterns across cities and individuals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382000" y="5334000"/>
            <a:ext cx="4572000" cy="2794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22" name="Text 20"/>
          <p:cNvSpPr/>
          <p:nvPr/>
        </p:nvSpPr>
        <p:spPr>
          <a:xfrm>
            <a:off x="8699500" y="5588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8699500" y="6477000"/>
            <a:ext cx="3937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699500" y="6921500"/>
            <a:ext cx="3937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Headcount distribution, hiring trends, and strategic takeaways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6_Analytics_abstract_Images_Free_Download.png">    </p:cNvPr>
          <p:cNvPicPr>
            <a:picLocks noChangeAspect="1"/>
          </p:cNvPicPr>
          <p:nvPr/>
        </p:nvPicPr>
        <p:blipFill>
          <a:blip r:embed="rId1"/>
          <a:srcRect l="0" r="0" t="798" b="798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End-to-end data analytics workflow from raw data to interactive dashboard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62000" y="8636000"/>
            <a:ext cx="2286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762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Tools &amp; Workflow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371600"/>
            <a:ext cx="1016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Four-stage pipeline from raw data to interactive visualization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7" name="Shape 5"/>
          <p:cNvSpPr/>
          <p:nvPr/>
        </p:nvSpPr>
        <p:spPr>
          <a:xfrm>
            <a:off x="1079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49739" y="48756"/>
                </a:moveTo>
                <a:cubicBezTo>
                  <a:pt x="459661" y="37594"/>
                  <a:pt x="459661" y="19467"/>
                  <a:pt x="449739" y="8305"/>
                </a:cubicBezTo>
                <a:cubicBezTo>
                  <a:pt x="439817" y="-2857"/>
                  <a:pt x="423704" y="-2857"/>
                  <a:pt x="413782" y="8305"/>
                </a:cubicBezTo>
                <a:lnTo>
                  <a:pt x="261382" y="179755"/>
                </a:lnTo>
                <a:lnTo>
                  <a:pt x="233839" y="148769"/>
                </a:lnTo>
                <a:cubicBezTo>
                  <a:pt x="230505" y="145018"/>
                  <a:pt x="225901" y="142875"/>
                  <a:pt x="221139" y="142875"/>
                </a:cubicBezTo>
                <a:cubicBezTo>
                  <a:pt x="211217" y="142875"/>
                  <a:pt x="203200" y="151894"/>
                  <a:pt x="203200" y="163056"/>
                </a:cubicBezTo>
                <a:lnTo>
                  <a:pt x="203200" y="189041"/>
                </a:lnTo>
                <a:lnTo>
                  <a:pt x="289163" y="285750"/>
                </a:lnTo>
                <a:lnTo>
                  <a:pt x="312261" y="285750"/>
                </a:lnTo>
                <a:cubicBezTo>
                  <a:pt x="322183" y="285750"/>
                  <a:pt x="330200" y="276731"/>
                  <a:pt x="330200" y="265569"/>
                </a:cubicBezTo>
                <a:cubicBezTo>
                  <a:pt x="330200" y="260211"/>
                  <a:pt x="328295" y="255032"/>
                  <a:pt x="324961" y="251281"/>
                </a:cubicBezTo>
                <a:lnTo>
                  <a:pt x="297418" y="220295"/>
                </a:lnTo>
                <a:lnTo>
                  <a:pt x="449818" y="48845"/>
                </a:lnTo>
                <a:close/>
                <a:moveTo>
                  <a:pt x="270748" y="315575"/>
                </a:moveTo>
                <a:lnTo>
                  <a:pt x="176689" y="209758"/>
                </a:lnTo>
                <a:cubicBezTo>
                  <a:pt x="142796" y="206454"/>
                  <a:pt x="109061" y="220206"/>
                  <a:pt x="84773" y="247531"/>
                </a:cubicBezTo>
                <a:lnTo>
                  <a:pt x="78423" y="254675"/>
                </a:lnTo>
                <a:cubicBezTo>
                  <a:pt x="60722" y="274588"/>
                  <a:pt x="50800" y="301556"/>
                  <a:pt x="50800" y="329684"/>
                </a:cubicBezTo>
                <a:cubicBezTo>
                  <a:pt x="50800" y="335756"/>
                  <a:pt x="56436" y="339685"/>
                  <a:pt x="61278" y="337006"/>
                </a:cubicBezTo>
                <a:lnTo>
                  <a:pt x="101838" y="314236"/>
                </a:lnTo>
                <a:cubicBezTo>
                  <a:pt x="105807" y="312003"/>
                  <a:pt x="109379" y="317897"/>
                  <a:pt x="106124" y="321290"/>
                </a:cubicBezTo>
                <a:lnTo>
                  <a:pt x="5794" y="422731"/>
                </a:lnTo>
                <a:cubicBezTo>
                  <a:pt x="2143" y="426482"/>
                  <a:pt x="0" y="431840"/>
                  <a:pt x="0" y="437465"/>
                </a:cubicBezTo>
                <a:cubicBezTo>
                  <a:pt x="0" y="448360"/>
                  <a:pt x="7858" y="457200"/>
                  <a:pt x="17542" y="457200"/>
                </a:cubicBezTo>
                <a:lnTo>
                  <a:pt x="155099" y="457200"/>
                </a:lnTo>
                <a:cubicBezTo>
                  <a:pt x="185896" y="457200"/>
                  <a:pt x="215344" y="443448"/>
                  <a:pt x="237173" y="418981"/>
                </a:cubicBezTo>
                <a:cubicBezTo>
                  <a:pt x="261461" y="391656"/>
                  <a:pt x="273606" y="353705"/>
                  <a:pt x="270748" y="315575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8" name="Text 6"/>
          <p:cNvSpPr/>
          <p:nvPr/>
        </p:nvSpPr>
        <p:spPr>
          <a:xfrm>
            <a:off x="1079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79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79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Python, Pandas, NumPy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79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Remove duplicates, handle nulls, fix invalid ages, cap salary outliers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064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F5A623"/>
            </a:solidFill>
            <a:prstDash val="solid"/>
            <a:headEnd type="none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4699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Shape 12"/>
          <p:cNvSpPr/>
          <p:nvPr/>
        </p:nvSpPr>
        <p:spPr>
          <a:xfrm>
            <a:off x="5016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183773"/>
                </a:moveTo>
                <a:cubicBezTo>
                  <a:pt x="442096" y="192524"/>
                  <a:pt x="424747" y="199579"/>
                  <a:pt x="406683" y="205204"/>
                </a:cubicBezTo>
                <a:cubicBezTo>
                  <a:pt x="358718" y="220206"/>
                  <a:pt x="295751" y="228600"/>
                  <a:pt x="228600" y="228600"/>
                </a:cubicBezTo>
                <a:cubicBezTo>
                  <a:pt x="161449" y="228600"/>
                  <a:pt x="98380" y="220117"/>
                  <a:pt x="50517" y="205204"/>
                </a:cubicBezTo>
                <a:cubicBezTo>
                  <a:pt x="32555" y="199579"/>
                  <a:pt x="15104" y="192524"/>
                  <a:pt x="0" y="183773"/>
                </a:cubicBezTo>
                <a:lnTo>
                  <a:pt x="0" y="257175"/>
                </a:lnTo>
                <a:cubicBezTo>
                  <a:pt x="0" y="296644"/>
                  <a:pt x="102360" y="328613"/>
                  <a:pt x="228600" y="328613"/>
                </a:cubicBezTo>
                <a:cubicBezTo>
                  <a:pt x="354840" y="328613"/>
                  <a:pt x="457200" y="296644"/>
                  <a:pt x="457200" y="257175"/>
                </a:cubicBezTo>
                <a:lnTo>
                  <a:pt x="457200" y="183773"/>
                </a:lnTo>
                <a:close/>
                <a:moveTo>
                  <a:pt x="457200" y="114300"/>
                </a:moveTo>
                <a:lnTo>
                  <a:pt x="457200" y="71438"/>
                </a:lnTo>
                <a:cubicBezTo>
                  <a:pt x="457200" y="31968"/>
                  <a:pt x="354840" y="0"/>
                  <a:pt x="228600" y="0"/>
                </a:cubicBezTo>
                <a:cubicBezTo>
                  <a:pt x="102360" y="0"/>
                  <a:pt x="0" y="31968"/>
                  <a:pt x="0" y="71438"/>
                </a:cubicBezTo>
                <a:lnTo>
                  <a:pt x="0" y="114300"/>
                </a:lnTo>
                <a:cubicBezTo>
                  <a:pt x="0" y="153769"/>
                  <a:pt x="102360" y="185738"/>
                  <a:pt x="228600" y="185738"/>
                </a:cubicBezTo>
                <a:cubicBezTo>
                  <a:pt x="354840" y="185738"/>
                  <a:pt x="457200" y="153769"/>
                  <a:pt x="457200" y="114300"/>
                </a:cubicBezTo>
                <a:close/>
                <a:moveTo>
                  <a:pt x="406683" y="348079"/>
                </a:moveTo>
                <a:cubicBezTo>
                  <a:pt x="358820" y="362992"/>
                  <a:pt x="295853" y="371475"/>
                  <a:pt x="228600" y="371475"/>
                </a:cubicBezTo>
                <a:cubicBezTo>
                  <a:pt x="161347" y="371475"/>
                  <a:pt x="98380" y="362992"/>
                  <a:pt x="50517" y="348079"/>
                </a:cubicBezTo>
                <a:cubicBezTo>
                  <a:pt x="32555" y="342454"/>
                  <a:pt x="15104" y="335399"/>
                  <a:pt x="0" y="326648"/>
                </a:cubicBezTo>
                <a:lnTo>
                  <a:pt x="0" y="385763"/>
                </a:lnTo>
                <a:cubicBezTo>
                  <a:pt x="0" y="425232"/>
                  <a:pt x="102360" y="457200"/>
                  <a:pt x="228600" y="457200"/>
                </a:cubicBezTo>
                <a:cubicBezTo>
                  <a:pt x="354840" y="457200"/>
                  <a:pt x="457200" y="425232"/>
                  <a:pt x="457200" y="385763"/>
                </a:cubicBezTo>
                <a:lnTo>
                  <a:pt x="457200" y="326648"/>
                </a:lnTo>
                <a:cubicBezTo>
                  <a:pt x="442096" y="335399"/>
                  <a:pt x="424747" y="342454"/>
                  <a:pt x="406683" y="348079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5" name="Text 13"/>
          <p:cNvSpPr/>
          <p:nvPr/>
        </p:nvSpPr>
        <p:spPr>
          <a:xfrm>
            <a:off x="5016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16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Storage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016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MySQL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16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Persist the cleaned dataset for querying and reporting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001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F5A623"/>
            </a:solidFill>
            <a:prstDash val="solid"/>
            <a:headEnd type="none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8636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21" name="Shape 19"/>
          <p:cNvSpPr/>
          <p:nvPr/>
        </p:nvSpPr>
        <p:spPr>
          <a:xfrm>
            <a:off x="8953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6385" y="1072"/>
                </a:moveTo>
                <a:cubicBezTo>
                  <a:pt x="272891" y="-3304"/>
                  <a:pt x="258842" y="5536"/>
                  <a:pt x="254953" y="20717"/>
                </a:cubicBezTo>
                <a:lnTo>
                  <a:pt x="153353" y="420767"/>
                </a:lnTo>
                <a:cubicBezTo>
                  <a:pt x="149463" y="435947"/>
                  <a:pt x="157321" y="451753"/>
                  <a:pt x="170815" y="456128"/>
                </a:cubicBezTo>
                <a:cubicBezTo>
                  <a:pt x="184309" y="460504"/>
                  <a:pt x="198358" y="451664"/>
                  <a:pt x="202248" y="436483"/>
                </a:cubicBezTo>
                <a:lnTo>
                  <a:pt x="303848" y="36433"/>
                </a:lnTo>
                <a:cubicBezTo>
                  <a:pt x="307737" y="21253"/>
                  <a:pt x="299879" y="5447"/>
                  <a:pt x="286385" y="1072"/>
                </a:cubicBezTo>
                <a:close/>
                <a:moveTo>
                  <a:pt x="337661" y="122605"/>
                </a:moveTo>
                <a:cubicBezTo>
                  <a:pt x="327739" y="133767"/>
                  <a:pt x="327739" y="151894"/>
                  <a:pt x="337661" y="163056"/>
                </a:cubicBezTo>
                <a:lnTo>
                  <a:pt x="395922" y="228600"/>
                </a:lnTo>
                <a:lnTo>
                  <a:pt x="337661" y="294144"/>
                </a:lnTo>
                <a:cubicBezTo>
                  <a:pt x="327739" y="305306"/>
                  <a:pt x="327739" y="323433"/>
                  <a:pt x="337661" y="334595"/>
                </a:cubicBezTo>
                <a:cubicBezTo>
                  <a:pt x="347583" y="345758"/>
                  <a:pt x="363696" y="345758"/>
                  <a:pt x="373618" y="334595"/>
                </a:cubicBezTo>
                <a:lnTo>
                  <a:pt x="449818" y="248870"/>
                </a:lnTo>
                <a:cubicBezTo>
                  <a:pt x="459740" y="237708"/>
                  <a:pt x="459740" y="219581"/>
                  <a:pt x="449818" y="208419"/>
                </a:cubicBezTo>
                <a:lnTo>
                  <a:pt x="373618" y="122694"/>
                </a:lnTo>
                <a:cubicBezTo>
                  <a:pt x="363696" y="111532"/>
                  <a:pt x="347583" y="111532"/>
                  <a:pt x="337661" y="122694"/>
                </a:cubicBezTo>
                <a:close/>
                <a:moveTo>
                  <a:pt x="119618" y="122605"/>
                </a:moveTo>
                <a:cubicBezTo>
                  <a:pt x="109696" y="111442"/>
                  <a:pt x="93583" y="111442"/>
                  <a:pt x="83661" y="122605"/>
                </a:cubicBezTo>
                <a:lnTo>
                  <a:pt x="7461" y="208330"/>
                </a:lnTo>
                <a:cubicBezTo>
                  <a:pt x="-2461" y="219492"/>
                  <a:pt x="-2461" y="237619"/>
                  <a:pt x="7461" y="248781"/>
                </a:cubicBezTo>
                <a:lnTo>
                  <a:pt x="83661" y="334506"/>
                </a:lnTo>
                <a:cubicBezTo>
                  <a:pt x="93583" y="345668"/>
                  <a:pt x="109696" y="345668"/>
                  <a:pt x="119618" y="334506"/>
                </a:cubicBezTo>
                <a:cubicBezTo>
                  <a:pt x="129540" y="323344"/>
                  <a:pt x="129540" y="305217"/>
                  <a:pt x="119618" y="294055"/>
                </a:cubicBezTo>
                <a:lnTo>
                  <a:pt x="61357" y="228600"/>
                </a:lnTo>
                <a:lnTo>
                  <a:pt x="119539" y="163056"/>
                </a:lnTo>
                <a:cubicBezTo>
                  <a:pt x="129461" y="151894"/>
                  <a:pt x="129461" y="133767"/>
                  <a:pt x="119539" y="122605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22" name="Text 20"/>
          <p:cNvSpPr/>
          <p:nvPr/>
        </p:nvSpPr>
        <p:spPr>
          <a:xfrm>
            <a:off x="8953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953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Querying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953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SQL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53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Aggregate and rank employees by salary, city, and hire date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1938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F5A623"/>
            </a:solidFill>
            <a:prstDash val="solid"/>
            <a:headEnd type="none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12573000" y="2159000"/>
            <a:ext cx="3175000" cy="4826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28" name="Shape 26"/>
          <p:cNvSpPr/>
          <p:nvPr/>
        </p:nvSpPr>
        <p:spPr>
          <a:xfrm>
            <a:off x="12890500" y="2476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57150" y="57150"/>
                </a:moveTo>
                <a:cubicBezTo>
                  <a:pt x="57150" y="41344"/>
                  <a:pt x="44381" y="28575"/>
                  <a:pt x="28575" y="28575"/>
                </a:cubicBezTo>
                <a:cubicBezTo>
                  <a:pt x="12769" y="28575"/>
                  <a:pt x="0" y="41344"/>
                  <a:pt x="0" y="57150"/>
                </a:cubicBezTo>
                <a:lnTo>
                  <a:pt x="0" y="357188"/>
                </a:lnTo>
                <a:cubicBezTo>
                  <a:pt x="0" y="396657"/>
                  <a:pt x="31968" y="428625"/>
                  <a:pt x="71438" y="428625"/>
                </a:cubicBezTo>
                <a:lnTo>
                  <a:pt x="428625" y="428625"/>
                </a:lnTo>
                <a:cubicBezTo>
                  <a:pt x="444431" y="428625"/>
                  <a:pt x="457200" y="415856"/>
                  <a:pt x="457200" y="400050"/>
                </a:cubicBezTo>
                <a:cubicBezTo>
                  <a:pt x="457200" y="384244"/>
                  <a:pt x="444431" y="371475"/>
                  <a:pt x="428625" y="371475"/>
                </a:cubicBezTo>
                <a:lnTo>
                  <a:pt x="71438" y="371475"/>
                </a:lnTo>
                <a:cubicBezTo>
                  <a:pt x="63579" y="371475"/>
                  <a:pt x="57150" y="365046"/>
                  <a:pt x="57150" y="357188"/>
                </a:cubicBezTo>
                <a:lnTo>
                  <a:pt x="57150" y="57150"/>
                </a:lnTo>
                <a:close/>
                <a:moveTo>
                  <a:pt x="420231" y="134481"/>
                </a:moveTo>
                <a:cubicBezTo>
                  <a:pt x="431393" y="123319"/>
                  <a:pt x="431393" y="105192"/>
                  <a:pt x="420231" y="94030"/>
                </a:cubicBezTo>
                <a:cubicBezTo>
                  <a:pt x="409069" y="82867"/>
                  <a:pt x="390942" y="82867"/>
                  <a:pt x="379780" y="94030"/>
                </a:cubicBezTo>
                <a:lnTo>
                  <a:pt x="285750" y="188149"/>
                </a:lnTo>
                <a:lnTo>
                  <a:pt x="234494" y="136981"/>
                </a:lnTo>
                <a:cubicBezTo>
                  <a:pt x="223331" y="125819"/>
                  <a:pt x="205204" y="125819"/>
                  <a:pt x="194042" y="136981"/>
                </a:cubicBezTo>
                <a:lnTo>
                  <a:pt x="108317" y="222706"/>
                </a:lnTo>
                <a:cubicBezTo>
                  <a:pt x="97155" y="233869"/>
                  <a:pt x="97155" y="251996"/>
                  <a:pt x="108317" y="263158"/>
                </a:cubicBezTo>
                <a:cubicBezTo>
                  <a:pt x="119479" y="274320"/>
                  <a:pt x="137606" y="274320"/>
                  <a:pt x="148769" y="263158"/>
                </a:cubicBezTo>
                <a:lnTo>
                  <a:pt x="214313" y="197614"/>
                </a:lnTo>
                <a:lnTo>
                  <a:pt x="265569" y="248870"/>
                </a:lnTo>
                <a:cubicBezTo>
                  <a:pt x="276731" y="260033"/>
                  <a:pt x="294858" y="260033"/>
                  <a:pt x="306020" y="248870"/>
                </a:cubicBezTo>
                <a:lnTo>
                  <a:pt x="420320" y="134570"/>
                </a:ln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29" name="Text 27"/>
          <p:cNvSpPr/>
          <p:nvPr/>
        </p:nvSpPr>
        <p:spPr>
          <a:xfrm>
            <a:off x="12890500" y="3111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spc="200" kern="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STAGE 04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2890500" y="35560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Visualization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2890500" y="4000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Power BI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890500" y="4445000"/>
            <a:ext cx="254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Interactive dashboard with KPI cards, charts, and slicers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62000" y="7366000"/>
            <a:ext cx="14732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Dataset covers 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9 employees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across 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 Kenyan cities</a:t>
            </a:r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Nairobi, Mombasa, Kisumu, Nakuru, Eldoret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10_5_801_Big_Data_Background_Green_Sto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Transforming raw, messy data into analysis-ready clean dataset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970000" y="8636000"/>
            <a:ext cx="177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7 Data Defects + 1 Format Issue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524000"/>
          <a:ext cx="14732000" cy="6858000"/>
        </p:xfrm>
        <a:graphic>
          <a:graphicData uri="http://schemas.openxmlformats.org/drawingml/2006/table">
            <a:tbl>
              <a:tblPr/>
              <a:tblGrid>
                <a:gridCol w="4419600"/>
                <a:gridCol w="5156200"/>
                <a:gridCol w="5156200"/>
              </a:tblGrid>
              <a:tr h="6858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Issue Found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Affected Record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Resolution Applied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Duplicate employee records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Alice — exact duplicate row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Dropped exact duplicate rows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employee name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EmployeeID 9 — name blank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assumed placeholder ‘Jamal’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age values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Bob — age field empty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median age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Invalid negative age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Faith — age = -5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Reset to missing, re-filled with median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salary value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Charlie — salary blank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Filled with median salary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Missing city value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Diana — city field empty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Assumed Kisumu — mode not unique (3-way tie)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Salary outlier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George — salary KES 900,000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Reviewed against IQR, corrected to KES 90,000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Inconsistent date format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All records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Parsed as day-first dates and standardized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>
    <p:fade/>
    <p:spd val="med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13208000" y="86360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CLEANING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Cleaning Impact &amp; Honest Scope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20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795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795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145% Finding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95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Computed on the raw export, mean salary reads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151,111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; once cleaned it is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61,611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an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inflation of 145%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caused by one 900,000 typo and a duplicated row.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185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360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360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Diana’s City Is Assumed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360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Kisumu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was assumed, not recovered. Location cannot be derived from age, salary or join date, and the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mode is not unique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(3-way tie).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63,500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 it vs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60,250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without.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620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795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0795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ID 9’s Name Is a Placeholder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795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‘Jamal’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is a placeholder, not a recovery. Names carry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analytical weight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no calculation touches this field, so the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impact is none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Row IDs refer to the raw export; the cleaned file renumbers rows after the duplicate is dropped.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185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Text 16"/>
          <p:cNvSpPr/>
          <p:nvPr/>
        </p:nvSpPr>
        <p:spPr>
          <a:xfrm>
            <a:off x="86360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6360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Where Assumptions Matter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6360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 stakeholder deliverable would report both as </a:t>
            </a: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Unknown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 of 9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employees in the city view. Total, mean, median, the 145% finding and the outlier check stay </a:t>
            </a: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identical</a:t>
            </a: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either way.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3_Abstract_data_visualization_network.png">    </p:cNvPr>
          <p:cNvPicPr>
            <a:picLocks noChangeAspect="1"/>
          </p:cNvPicPr>
          <p:nvPr/>
        </p:nvPicPr>
        <p:blipFill>
          <a:blip r:embed="rId1"/>
          <a:srcRect l="182" r="182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METRICS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At-a-glance view of workforce composition and financial summary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970000" y="8636000"/>
            <a:ext cx="177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METRICS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762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Dashboard KPIs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Shape 4"/>
          <p:cNvSpPr/>
          <p:nvPr/>
        </p:nvSpPr>
        <p:spPr>
          <a:xfrm>
            <a:off x="10795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11112"/>
                </a:moveTo>
                <a:cubicBezTo>
                  <a:pt x="209692" y="11112"/>
                  <a:pt x="235585" y="43478"/>
                  <a:pt x="235585" y="83344"/>
                </a:cubicBezTo>
                <a:cubicBezTo>
                  <a:pt x="235585" y="123209"/>
                  <a:pt x="209692" y="155575"/>
                  <a:pt x="177800" y="155575"/>
                </a:cubicBezTo>
                <a:cubicBezTo>
                  <a:pt x="145908" y="155575"/>
                  <a:pt x="120015" y="123209"/>
                  <a:pt x="120015" y="83344"/>
                </a:cubicBezTo>
                <a:cubicBezTo>
                  <a:pt x="120015" y="43478"/>
                  <a:pt x="145908" y="11113"/>
                  <a:pt x="177800" y="11112"/>
                </a:cubicBezTo>
                <a:close/>
                <a:moveTo>
                  <a:pt x="53340" y="61119"/>
                </a:moveTo>
                <a:cubicBezTo>
                  <a:pt x="75419" y="61119"/>
                  <a:pt x="93345" y="83526"/>
                  <a:pt x="93345" y="111125"/>
                </a:cubicBezTo>
                <a:cubicBezTo>
                  <a:pt x="93345" y="138724"/>
                  <a:pt x="75419" y="161131"/>
                  <a:pt x="53340" y="161131"/>
                </a:cubicBezTo>
                <a:cubicBezTo>
                  <a:pt x="31261" y="161131"/>
                  <a:pt x="13335" y="138724"/>
                  <a:pt x="13335" y="111125"/>
                </a:cubicBezTo>
                <a:cubicBezTo>
                  <a:pt x="13335" y="83526"/>
                  <a:pt x="31261" y="61119"/>
                  <a:pt x="53340" y="61119"/>
                </a:cubicBezTo>
                <a:close/>
                <a:moveTo>
                  <a:pt x="0" y="288925"/>
                </a:moveTo>
                <a:cubicBezTo>
                  <a:pt x="0" y="239822"/>
                  <a:pt x="31837" y="200025"/>
                  <a:pt x="71120" y="200025"/>
                </a:cubicBezTo>
                <a:cubicBezTo>
                  <a:pt x="78232" y="200025"/>
                  <a:pt x="85122" y="201345"/>
                  <a:pt x="91623" y="203775"/>
                </a:cubicBezTo>
                <a:cubicBezTo>
                  <a:pt x="73343" y="229334"/>
                  <a:pt x="62230" y="263088"/>
                  <a:pt x="62230" y="300038"/>
                </a:cubicBezTo>
                <a:lnTo>
                  <a:pt x="62230" y="311150"/>
                </a:lnTo>
                <a:cubicBezTo>
                  <a:pt x="62230" y="319068"/>
                  <a:pt x="63564" y="326569"/>
                  <a:pt x="65953" y="333375"/>
                </a:cubicBezTo>
                <a:lnTo>
                  <a:pt x="17780" y="333375"/>
                </a:lnTo>
                <a:cubicBezTo>
                  <a:pt x="7945" y="333375"/>
                  <a:pt x="0" y="323443"/>
                  <a:pt x="0" y="311150"/>
                </a:cubicBezTo>
                <a:lnTo>
                  <a:pt x="0" y="288925"/>
                </a:lnTo>
                <a:close/>
                <a:moveTo>
                  <a:pt x="289647" y="333375"/>
                </a:moveTo>
                <a:cubicBezTo>
                  <a:pt x="292036" y="326569"/>
                  <a:pt x="293370" y="319068"/>
                  <a:pt x="293370" y="311150"/>
                </a:cubicBezTo>
                <a:lnTo>
                  <a:pt x="293370" y="300038"/>
                </a:lnTo>
                <a:cubicBezTo>
                  <a:pt x="293370" y="263088"/>
                  <a:pt x="282257" y="229334"/>
                  <a:pt x="263977" y="203775"/>
                </a:cubicBezTo>
                <a:cubicBezTo>
                  <a:pt x="270478" y="201345"/>
                  <a:pt x="277368" y="200025"/>
                  <a:pt x="284480" y="200025"/>
                </a:cubicBezTo>
                <a:cubicBezTo>
                  <a:pt x="323763" y="200025"/>
                  <a:pt x="355600" y="239822"/>
                  <a:pt x="355600" y="288925"/>
                </a:cubicBezTo>
                <a:lnTo>
                  <a:pt x="355600" y="311150"/>
                </a:lnTo>
                <a:cubicBezTo>
                  <a:pt x="355600" y="323443"/>
                  <a:pt x="347655" y="333375"/>
                  <a:pt x="337820" y="333375"/>
                </a:cubicBezTo>
                <a:lnTo>
                  <a:pt x="289647" y="333375"/>
                </a:lnTo>
                <a:close/>
                <a:moveTo>
                  <a:pt x="262255" y="111125"/>
                </a:moveTo>
                <a:cubicBezTo>
                  <a:pt x="262255" y="83526"/>
                  <a:pt x="280181" y="61119"/>
                  <a:pt x="302260" y="61119"/>
                </a:cubicBezTo>
                <a:cubicBezTo>
                  <a:pt x="324339" y="61119"/>
                  <a:pt x="342265" y="83526"/>
                  <a:pt x="342265" y="111125"/>
                </a:cubicBezTo>
                <a:cubicBezTo>
                  <a:pt x="342265" y="138724"/>
                  <a:pt x="324339" y="161131"/>
                  <a:pt x="302260" y="161131"/>
                </a:cubicBezTo>
                <a:cubicBezTo>
                  <a:pt x="280181" y="161131"/>
                  <a:pt x="262255" y="138724"/>
                  <a:pt x="262255" y="111125"/>
                </a:cubicBezTo>
                <a:close/>
                <a:moveTo>
                  <a:pt x="88900" y="300038"/>
                </a:moveTo>
                <a:cubicBezTo>
                  <a:pt x="88900" y="238641"/>
                  <a:pt x="128683" y="188913"/>
                  <a:pt x="177800" y="188913"/>
                </a:cubicBezTo>
                <a:cubicBezTo>
                  <a:pt x="226917" y="188913"/>
                  <a:pt x="266700" y="238641"/>
                  <a:pt x="266700" y="300038"/>
                </a:cubicBezTo>
                <a:lnTo>
                  <a:pt x="266700" y="311150"/>
                </a:lnTo>
                <a:cubicBezTo>
                  <a:pt x="266700" y="323443"/>
                  <a:pt x="258755" y="333375"/>
                  <a:pt x="248920" y="333375"/>
                </a:cubicBezTo>
                <a:lnTo>
                  <a:pt x="106680" y="333375"/>
                </a:lnTo>
                <a:cubicBezTo>
                  <a:pt x="96845" y="333375"/>
                  <a:pt x="88900" y="323443"/>
                  <a:pt x="88900" y="311150"/>
                </a:cubicBezTo>
                <a:lnTo>
                  <a:pt x="88900" y="300038"/>
                </a:ln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7" name="Text 5"/>
          <p:cNvSpPr/>
          <p:nvPr/>
        </p:nvSpPr>
        <p:spPr>
          <a:xfrm>
            <a:off x="10795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Employees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79500" y="2540000"/>
            <a:ext cx="279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9</a:t>
            </a:r>
            <a:endParaRPr lang="en-US" sz="5200" dirty="0"/>
          </a:p>
        </p:txBody>
      </p:sp>
      <p:sp>
        <p:nvSpPr>
          <p:cNvPr id="9" name="Shape 7"/>
          <p:cNvSpPr/>
          <p:nvPr/>
        </p:nvSpPr>
        <p:spPr>
          <a:xfrm>
            <a:off x="45212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Shape 8"/>
          <p:cNvSpPr/>
          <p:nvPr/>
        </p:nvSpPr>
        <p:spPr>
          <a:xfrm>
            <a:off x="48387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0" y="291425"/>
                </a:moveTo>
                <a:lnTo>
                  <a:pt x="0" y="76051"/>
                </a:lnTo>
                <a:cubicBezTo>
                  <a:pt x="0" y="59938"/>
                  <a:pt x="16738" y="49242"/>
                  <a:pt x="32157" y="53826"/>
                </a:cubicBezTo>
                <a:cubicBezTo>
                  <a:pt x="93067" y="72023"/>
                  <a:pt x="136128" y="57646"/>
                  <a:pt x="179467" y="43200"/>
                </a:cubicBezTo>
                <a:cubicBezTo>
                  <a:pt x="224264" y="28267"/>
                  <a:pt x="269339" y="13266"/>
                  <a:pt x="334556" y="34101"/>
                </a:cubicBezTo>
                <a:cubicBezTo>
                  <a:pt x="347405" y="38199"/>
                  <a:pt x="355600" y="50631"/>
                  <a:pt x="355600" y="64175"/>
                </a:cubicBezTo>
                <a:lnTo>
                  <a:pt x="355600" y="279549"/>
                </a:lnTo>
                <a:cubicBezTo>
                  <a:pt x="355600" y="295662"/>
                  <a:pt x="338862" y="306358"/>
                  <a:pt x="323513" y="301774"/>
                </a:cubicBezTo>
                <a:cubicBezTo>
                  <a:pt x="262602" y="283577"/>
                  <a:pt x="219472" y="297954"/>
                  <a:pt x="176203" y="312400"/>
                </a:cubicBezTo>
                <a:cubicBezTo>
                  <a:pt x="131405" y="327333"/>
                  <a:pt x="86330" y="342334"/>
                  <a:pt x="21114" y="321499"/>
                </a:cubicBezTo>
                <a:cubicBezTo>
                  <a:pt x="8265" y="317401"/>
                  <a:pt x="69" y="304969"/>
                  <a:pt x="69" y="291425"/>
                </a:cubicBezTo>
                <a:close/>
                <a:moveTo>
                  <a:pt x="233363" y="177800"/>
                </a:moveTo>
                <a:cubicBezTo>
                  <a:pt x="233363" y="140990"/>
                  <a:pt x="208498" y="111125"/>
                  <a:pt x="177800" y="111125"/>
                </a:cubicBezTo>
                <a:cubicBezTo>
                  <a:pt x="147102" y="111125"/>
                  <a:pt x="122238" y="140990"/>
                  <a:pt x="122238" y="177800"/>
                </a:cubicBezTo>
                <a:cubicBezTo>
                  <a:pt x="122238" y="214610"/>
                  <a:pt x="147102" y="244475"/>
                  <a:pt x="177800" y="244475"/>
                </a:cubicBezTo>
                <a:cubicBezTo>
                  <a:pt x="208498" y="244475"/>
                  <a:pt x="233363" y="214610"/>
                  <a:pt x="233363" y="177800"/>
                </a:cubicBezTo>
                <a:close/>
                <a:moveTo>
                  <a:pt x="83344" y="287258"/>
                </a:moveTo>
                <a:cubicBezTo>
                  <a:pt x="86400" y="287258"/>
                  <a:pt x="88831" y="284619"/>
                  <a:pt x="88344" y="281632"/>
                </a:cubicBezTo>
                <a:cubicBezTo>
                  <a:pt x="85150" y="262324"/>
                  <a:pt x="69592" y="247253"/>
                  <a:pt x="50006" y="244822"/>
                </a:cubicBezTo>
                <a:cubicBezTo>
                  <a:pt x="46950" y="244475"/>
                  <a:pt x="44450" y="246975"/>
                  <a:pt x="44450" y="250031"/>
                </a:cubicBezTo>
                <a:lnTo>
                  <a:pt x="44450" y="277743"/>
                </a:lnTo>
                <a:cubicBezTo>
                  <a:pt x="44450" y="280243"/>
                  <a:pt x="46117" y="282466"/>
                  <a:pt x="48617" y="283091"/>
                </a:cubicBezTo>
                <a:cubicBezTo>
                  <a:pt x="61049" y="286008"/>
                  <a:pt x="72440" y="287328"/>
                  <a:pt x="83344" y="287328"/>
                </a:cubicBezTo>
                <a:close/>
                <a:moveTo>
                  <a:pt x="304552" y="251768"/>
                </a:moveTo>
                <a:cubicBezTo>
                  <a:pt x="308025" y="252323"/>
                  <a:pt x="311150" y="249684"/>
                  <a:pt x="311150" y="246211"/>
                </a:cubicBezTo>
                <a:lnTo>
                  <a:pt x="311150" y="216624"/>
                </a:lnTo>
                <a:cubicBezTo>
                  <a:pt x="311150" y="213568"/>
                  <a:pt x="308650" y="210999"/>
                  <a:pt x="305594" y="211415"/>
                </a:cubicBezTo>
                <a:cubicBezTo>
                  <a:pt x="288092" y="213568"/>
                  <a:pt x="273715" y="225931"/>
                  <a:pt x="268645" y="242391"/>
                </a:cubicBezTo>
                <a:cubicBezTo>
                  <a:pt x="267672" y="245656"/>
                  <a:pt x="270242" y="248712"/>
                  <a:pt x="273645" y="248781"/>
                </a:cubicBezTo>
                <a:cubicBezTo>
                  <a:pt x="283508" y="249059"/>
                  <a:pt x="293787" y="249962"/>
                  <a:pt x="304483" y="251768"/>
                </a:cubicBezTo>
                <a:close/>
                <a:moveTo>
                  <a:pt x="311150" y="105569"/>
                </a:moveTo>
                <a:lnTo>
                  <a:pt x="311150" y="77857"/>
                </a:lnTo>
                <a:cubicBezTo>
                  <a:pt x="311150" y="75357"/>
                  <a:pt x="309414" y="73134"/>
                  <a:pt x="306983" y="72509"/>
                </a:cubicBezTo>
                <a:cubicBezTo>
                  <a:pt x="294551" y="69592"/>
                  <a:pt x="283160" y="68272"/>
                  <a:pt x="272256" y="68272"/>
                </a:cubicBezTo>
                <a:cubicBezTo>
                  <a:pt x="269200" y="68272"/>
                  <a:pt x="266769" y="70912"/>
                  <a:pt x="267256" y="73898"/>
                </a:cubicBezTo>
                <a:cubicBezTo>
                  <a:pt x="270450" y="93206"/>
                  <a:pt x="286008" y="108277"/>
                  <a:pt x="305594" y="110708"/>
                </a:cubicBezTo>
                <a:cubicBezTo>
                  <a:pt x="308650" y="111056"/>
                  <a:pt x="311150" y="108555"/>
                  <a:pt x="311150" y="105499"/>
                </a:cubicBezTo>
                <a:close/>
                <a:moveTo>
                  <a:pt x="86955" y="113139"/>
                </a:moveTo>
                <a:cubicBezTo>
                  <a:pt x="87928" y="109875"/>
                  <a:pt x="85358" y="106819"/>
                  <a:pt x="81955" y="106749"/>
                </a:cubicBezTo>
                <a:cubicBezTo>
                  <a:pt x="72092" y="106472"/>
                  <a:pt x="61813" y="105569"/>
                  <a:pt x="51117" y="103763"/>
                </a:cubicBezTo>
                <a:cubicBezTo>
                  <a:pt x="47645" y="103207"/>
                  <a:pt x="44519" y="105847"/>
                  <a:pt x="44519" y="109319"/>
                </a:cubicBezTo>
                <a:lnTo>
                  <a:pt x="44450" y="138906"/>
                </a:lnTo>
                <a:cubicBezTo>
                  <a:pt x="44450" y="141962"/>
                  <a:pt x="46950" y="144532"/>
                  <a:pt x="50006" y="144115"/>
                </a:cubicBezTo>
                <a:cubicBezTo>
                  <a:pt x="67508" y="141962"/>
                  <a:pt x="81885" y="129600"/>
                  <a:pt x="86955" y="113139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1" name="Text 9"/>
          <p:cNvSpPr/>
          <p:nvPr/>
        </p:nvSpPr>
        <p:spPr>
          <a:xfrm>
            <a:off x="48387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Salary Expense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38700" y="2540000"/>
            <a:ext cx="3048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554,500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82804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Shape 12"/>
          <p:cNvSpPr/>
          <p:nvPr/>
        </p:nvSpPr>
        <p:spPr>
          <a:xfrm>
            <a:off x="85979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59267" y="0"/>
                </a:moveTo>
                <a:cubicBezTo>
                  <a:pt x="26577" y="0"/>
                  <a:pt x="0" y="19933"/>
                  <a:pt x="0" y="44450"/>
                </a:cubicBezTo>
                <a:lnTo>
                  <a:pt x="0" y="311150"/>
                </a:lnTo>
                <a:cubicBezTo>
                  <a:pt x="0" y="335667"/>
                  <a:pt x="26577" y="355600"/>
                  <a:pt x="59267" y="355600"/>
                </a:cubicBezTo>
                <a:lnTo>
                  <a:pt x="296333" y="355600"/>
                </a:lnTo>
                <a:cubicBezTo>
                  <a:pt x="329023" y="355600"/>
                  <a:pt x="355600" y="335667"/>
                  <a:pt x="355600" y="311150"/>
                </a:cubicBezTo>
                <a:lnTo>
                  <a:pt x="355600" y="44450"/>
                </a:lnTo>
                <a:cubicBezTo>
                  <a:pt x="355600" y="19933"/>
                  <a:pt x="329023" y="0"/>
                  <a:pt x="296333" y="0"/>
                </a:cubicBezTo>
                <a:lnTo>
                  <a:pt x="59267" y="0"/>
                </a:lnTo>
                <a:close/>
                <a:moveTo>
                  <a:pt x="88900" y="44450"/>
                </a:moveTo>
                <a:lnTo>
                  <a:pt x="266700" y="44450"/>
                </a:lnTo>
                <a:cubicBezTo>
                  <a:pt x="283091" y="44450"/>
                  <a:pt x="296333" y="54382"/>
                  <a:pt x="296333" y="66675"/>
                </a:cubicBezTo>
                <a:lnTo>
                  <a:pt x="296333" y="88900"/>
                </a:lnTo>
                <a:cubicBezTo>
                  <a:pt x="296333" y="101193"/>
                  <a:pt x="283091" y="111125"/>
                  <a:pt x="266700" y="111125"/>
                </a:cubicBezTo>
                <a:lnTo>
                  <a:pt x="88900" y="111125"/>
                </a:lnTo>
                <a:cubicBezTo>
                  <a:pt x="72509" y="111125"/>
                  <a:pt x="59267" y="101193"/>
                  <a:pt x="59267" y="88900"/>
                </a:cubicBezTo>
                <a:lnTo>
                  <a:pt x="59267" y="66675"/>
                </a:lnTo>
                <a:cubicBezTo>
                  <a:pt x="59267" y="54382"/>
                  <a:pt x="72509" y="44450"/>
                  <a:pt x="88900" y="44450"/>
                </a:cubicBezTo>
                <a:close/>
                <a:moveTo>
                  <a:pt x="103717" y="161131"/>
                </a:moveTo>
                <a:cubicBezTo>
                  <a:pt x="103717" y="170331"/>
                  <a:pt x="93758" y="177800"/>
                  <a:pt x="81492" y="177800"/>
                </a:cubicBezTo>
                <a:cubicBezTo>
                  <a:pt x="69225" y="177800"/>
                  <a:pt x="59267" y="170331"/>
                  <a:pt x="59267" y="161131"/>
                </a:cubicBezTo>
                <a:cubicBezTo>
                  <a:pt x="59267" y="151932"/>
                  <a:pt x="69225" y="144463"/>
                  <a:pt x="81492" y="144463"/>
                </a:cubicBezTo>
                <a:cubicBezTo>
                  <a:pt x="93758" y="144463"/>
                  <a:pt x="103717" y="151932"/>
                  <a:pt x="103717" y="161131"/>
                </a:cubicBezTo>
                <a:close/>
                <a:moveTo>
                  <a:pt x="177800" y="177800"/>
                </a:moveTo>
                <a:cubicBezTo>
                  <a:pt x="165534" y="177800"/>
                  <a:pt x="155575" y="170331"/>
                  <a:pt x="155575" y="161131"/>
                </a:cubicBezTo>
                <a:cubicBezTo>
                  <a:pt x="155575" y="151932"/>
                  <a:pt x="165534" y="144463"/>
                  <a:pt x="177800" y="144463"/>
                </a:cubicBezTo>
                <a:cubicBezTo>
                  <a:pt x="190066" y="144463"/>
                  <a:pt x="200025" y="151932"/>
                  <a:pt x="200025" y="161131"/>
                </a:cubicBezTo>
                <a:cubicBezTo>
                  <a:pt x="200025" y="170331"/>
                  <a:pt x="190066" y="177800"/>
                  <a:pt x="177800" y="177800"/>
                </a:cubicBezTo>
                <a:close/>
                <a:moveTo>
                  <a:pt x="296333" y="161131"/>
                </a:moveTo>
                <a:cubicBezTo>
                  <a:pt x="296333" y="170331"/>
                  <a:pt x="286375" y="177800"/>
                  <a:pt x="274108" y="177800"/>
                </a:cubicBezTo>
                <a:cubicBezTo>
                  <a:pt x="261842" y="177800"/>
                  <a:pt x="251883" y="170331"/>
                  <a:pt x="251883" y="161131"/>
                </a:cubicBezTo>
                <a:cubicBezTo>
                  <a:pt x="251883" y="151932"/>
                  <a:pt x="261842" y="144463"/>
                  <a:pt x="274108" y="144463"/>
                </a:cubicBezTo>
                <a:cubicBezTo>
                  <a:pt x="286375" y="144463"/>
                  <a:pt x="296333" y="151932"/>
                  <a:pt x="296333" y="161131"/>
                </a:cubicBezTo>
                <a:close/>
                <a:moveTo>
                  <a:pt x="81492" y="244475"/>
                </a:moveTo>
                <a:cubicBezTo>
                  <a:pt x="69225" y="244475"/>
                  <a:pt x="59267" y="237006"/>
                  <a:pt x="59267" y="227806"/>
                </a:cubicBezTo>
                <a:cubicBezTo>
                  <a:pt x="59267" y="218607"/>
                  <a:pt x="69225" y="211138"/>
                  <a:pt x="81492" y="211138"/>
                </a:cubicBezTo>
                <a:cubicBezTo>
                  <a:pt x="93758" y="211138"/>
                  <a:pt x="103717" y="218607"/>
                  <a:pt x="103717" y="227806"/>
                </a:cubicBezTo>
                <a:cubicBezTo>
                  <a:pt x="103717" y="237006"/>
                  <a:pt x="93758" y="244475"/>
                  <a:pt x="81492" y="244475"/>
                </a:cubicBezTo>
                <a:close/>
                <a:moveTo>
                  <a:pt x="200025" y="227806"/>
                </a:moveTo>
                <a:cubicBezTo>
                  <a:pt x="200025" y="237006"/>
                  <a:pt x="190066" y="244475"/>
                  <a:pt x="177800" y="244475"/>
                </a:cubicBezTo>
                <a:cubicBezTo>
                  <a:pt x="165534" y="244475"/>
                  <a:pt x="155575" y="237006"/>
                  <a:pt x="155575" y="227806"/>
                </a:cubicBezTo>
                <a:cubicBezTo>
                  <a:pt x="155575" y="218607"/>
                  <a:pt x="165534" y="211138"/>
                  <a:pt x="177800" y="211138"/>
                </a:cubicBezTo>
                <a:cubicBezTo>
                  <a:pt x="190066" y="211138"/>
                  <a:pt x="200025" y="218607"/>
                  <a:pt x="200025" y="227806"/>
                </a:cubicBezTo>
                <a:close/>
                <a:moveTo>
                  <a:pt x="274108" y="244475"/>
                </a:moveTo>
                <a:cubicBezTo>
                  <a:pt x="261842" y="244475"/>
                  <a:pt x="251883" y="237006"/>
                  <a:pt x="251883" y="227806"/>
                </a:cubicBezTo>
                <a:cubicBezTo>
                  <a:pt x="251883" y="218607"/>
                  <a:pt x="261842" y="211138"/>
                  <a:pt x="274108" y="211138"/>
                </a:cubicBezTo>
                <a:cubicBezTo>
                  <a:pt x="286375" y="211138"/>
                  <a:pt x="296333" y="218607"/>
                  <a:pt x="296333" y="227806"/>
                </a:cubicBezTo>
                <a:cubicBezTo>
                  <a:pt x="296333" y="237006"/>
                  <a:pt x="286375" y="244475"/>
                  <a:pt x="274108" y="244475"/>
                </a:cubicBezTo>
                <a:close/>
                <a:moveTo>
                  <a:pt x="59267" y="294481"/>
                </a:moveTo>
                <a:cubicBezTo>
                  <a:pt x="59267" y="285244"/>
                  <a:pt x="69175" y="277813"/>
                  <a:pt x="81492" y="277813"/>
                </a:cubicBezTo>
                <a:lnTo>
                  <a:pt x="185208" y="277813"/>
                </a:lnTo>
                <a:cubicBezTo>
                  <a:pt x="197525" y="277813"/>
                  <a:pt x="207433" y="285244"/>
                  <a:pt x="207433" y="294481"/>
                </a:cubicBezTo>
                <a:cubicBezTo>
                  <a:pt x="207433" y="303719"/>
                  <a:pt x="197525" y="311150"/>
                  <a:pt x="185208" y="311150"/>
                </a:cubicBezTo>
                <a:lnTo>
                  <a:pt x="81492" y="311150"/>
                </a:lnTo>
                <a:cubicBezTo>
                  <a:pt x="69175" y="311150"/>
                  <a:pt x="59267" y="303719"/>
                  <a:pt x="59267" y="294481"/>
                </a:cubicBezTo>
                <a:close/>
                <a:moveTo>
                  <a:pt x="274108" y="277813"/>
                </a:moveTo>
                <a:cubicBezTo>
                  <a:pt x="286425" y="277813"/>
                  <a:pt x="296333" y="285244"/>
                  <a:pt x="296333" y="294481"/>
                </a:cubicBezTo>
                <a:cubicBezTo>
                  <a:pt x="296333" y="303719"/>
                  <a:pt x="286425" y="311150"/>
                  <a:pt x="274108" y="311150"/>
                </a:cubicBezTo>
                <a:cubicBezTo>
                  <a:pt x="261792" y="311150"/>
                  <a:pt x="251883" y="303719"/>
                  <a:pt x="251883" y="294481"/>
                </a:cubicBezTo>
                <a:cubicBezTo>
                  <a:pt x="251883" y="285244"/>
                  <a:pt x="261792" y="277813"/>
                  <a:pt x="274108" y="277813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5" name="Text 13"/>
          <p:cNvSpPr/>
          <p:nvPr/>
        </p:nvSpPr>
        <p:spPr>
          <a:xfrm>
            <a:off x="85979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Average Salary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97900" y="2540000"/>
            <a:ext cx="279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6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61,611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12039600" y="1524000"/>
            <a:ext cx="3429000" cy="2032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Shape 16"/>
          <p:cNvSpPr/>
          <p:nvPr/>
        </p:nvSpPr>
        <p:spPr>
          <a:xfrm>
            <a:off x="12357100" y="1778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38289" y="5556"/>
                </a:moveTo>
                <a:cubicBezTo>
                  <a:pt x="179177" y="5556"/>
                  <a:pt x="212372" y="42901"/>
                  <a:pt x="212372" y="88900"/>
                </a:cubicBezTo>
                <a:cubicBezTo>
                  <a:pt x="212372" y="134899"/>
                  <a:pt x="179177" y="172244"/>
                  <a:pt x="138289" y="172244"/>
                </a:cubicBezTo>
                <a:cubicBezTo>
                  <a:pt x="97401" y="172244"/>
                  <a:pt x="64206" y="134899"/>
                  <a:pt x="64206" y="88900"/>
                </a:cubicBezTo>
                <a:cubicBezTo>
                  <a:pt x="64206" y="42901"/>
                  <a:pt x="97401" y="5556"/>
                  <a:pt x="138289" y="5556"/>
                </a:cubicBezTo>
                <a:close/>
                <a:moveTo>
                  <a:pt x="119953" y="211138"/>
                </a:moveTo>
                <a:lnTo>
                  <a:pt x="156625" y="211138"/>
                </a:lnTo>
                <a:cubicBezTo>
                  <a:pt x="159032" y="211138"/>
                  <a:pt x="161502" y="211207"/>
                  <a:pt x="163909" y="211415"/>
                </a:cubicBezTo>
                <a:cubicBezTo>
                  <a:pt x="153908" y="231001"/>
                  <a:pt x="148167" y="253643"/>
                  <a:pt x="148167" y="277813"/>
                </a:cubicBezTo>
                <a:cubicBezTo>
                  <a:pt x="148167" y="306844"/>
                  <a:pt x="156439" y="333722"/>
                  <a:pt x="170392" y="355600"/>
                </a:cubicBezTo>
                <a:lnTo>
                  <a:pt x="28213" y="355600"/>
                </a:lnTo>
                <a:cubicBezTo>
                  <a:pt x="18089" y="355600"/>
                  <a:pt x="9878" y="346363"/>
                  <a:pt x="9878" y="334972"/>
                </a:cubicBezTo>
                <a:cubicBezTo>
                  <a:pt x="9878" y="266561"/>
                  <a:pt x="59143" y="211138"/>
                  <a:pt x="119953" y="211138"/>
                </a:cubicBezTo>
                <a:close/>
                <a:moveTo>
                  <a:pt x="177800" y="277813"/>
                </a:moveTo>
                <a:cubicBezTo>
                  <a:pt x="177800" y="222614"/>
                  <a:pt x="217635" y="177800"/>
                  <a:pt x="266700" y="177800"/>
                </a:cubicBezTo>
                <a:cubicBezTo>
                  <a:pt x="315765" y="177800"/>
                  <a:pt x="355600" y="222614"/>
                  <a:pt x="355600" y="277812"/>
                </a:cubicBezTo>
                <a:cubicBezTo>
                  <a:pt x="355600" y="333011"/>
                  <a:pt x="315765" y="377825"/>
                  <a:pt x="266700" y="377825"/>
                </a:cubicBezTo>
                <a:cubicBezTo>
                  <a:pt x="217635" y="377825"/>
                  <a:pt x="177800" y="333011"/>
                  <a:pt x="177800" y="277813"/>
                </a:cubicBezTo>
                <a:close/>
                <a:moveTo>
                  <a:pt x="266700" y="222250"/>
                </a:moveTo>
                <a:cubicBezTo>
                  <a:pt x="261267" y="222250"/>
                  <a:pt x="256822" y="227251"/>
                  <a:pt x="256822" y="233363"/>
                </a:cubicBezTo>
                <a:lnTo>
                  <a:pt x="256822" y="277813"/>
                </a:lnTo>
                <a:cubicBezTo>
                  <a:pt x="256822" y="283924"/>
                  <a:pt x="261267" y="288925"/>
                  <a:pt x="266700" y="288925"/>
                </a:cubicBezTo>
                <a:lnTo>
                  <a:pt x="296333" y="288925"/>
                </a:lnTo>
                <a:cubicBezTo>
                  <a:pt x="301766" y="288925"/>
                  <a:pt x="306211" y="283924"/>
                  <a:pt x="306211" y="277813"/>
                </a:cubicBezTo>
                <a:cubicBezTo>
                  <a:pt x="306211" y="271701"/>
                  <a:pt x="301766" y="266700"/>
                  <a:pt x="296333" y="266700"/>
                </a:cubicBezTo>
                <a:lnTo>
                  <a:pt x="276578" y="266700"/>
                </a:lnTo>
                <a:lnTo>
                  <a:pt x="276578" y="233363"/>
                </a:lnTo>
                <a:cubicBezTo>
                  <a:pt x="276578" y="227251"/>
                  <a:pt x="272133" y="222250"/>
                  <a:pt x="266700" y="222250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9" name="Text 17"/>
          <p:cNvSpPr/>
          <p:nvPr/>
        </p:nvSpPr>
        <p:spPr>
          <a:xfrm>
            <a:off x="12357100" y="2222500"/>
            <a:ext cx="279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Average Age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57100" y="2540000"/>
            <a:ext cx="279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5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30.3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762000" y="38735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Distribution by City</a:t>
            </a:r>
            <a:endParaRPr lang="en-US" sz="18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62000" y="4381500"/>
          <a:ext cx="14732000" cy="3937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  <p:transition>
    <p:fade/>
    <p:spd val="me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4_57_808_Graphs_Charts_Dark_Royalty.png">    </p:cNvPr>
          <p:cNvPicPr>
            <a:picLocks noChangeAspect="1"/>
          </p:cNvPicPr>
          <p:nvPr/>
        </p:nvPicPr>
        <p:blipFill>
          <a:blip r:embed="rId1"/>
          <a:srcRect l="20719" r="20719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762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Deep dive into compensation patterns across cities and individuals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589000" y="8636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Compensation Breakdown by City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graphicFrame>
        <p:nvGraphicFramePr>
          <p:cNvPr id="5" name="Chart 0" descr=""/>
          <p:cNvGraphicFramePr/>
          <p:nvPr/>
        </p:nvGraphicFramePr>
        <p:xfrm>
          <a:off x="762000" y="1524000"/>
          <a:ext cx="8890000" cy="5080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160000" y="1524000"/>
            <a:ext cx="5334000" cy="5080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7" name="Shape 4"/>
          <p:cNvSpPr/>
          <p:nvPr/>
        </p:nvSpPr>
        <p:spPr>
          <a:xfrm>
            <a:off x="10541000" y="1905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309986" y="304800"/>
                </a:moveTo>
                <a:cubicBezTo>
                  <a:pt x="317712" y="287099"/>
                  <a:pt x="333163" y="271066"/>
                  <a:pt x="350626" y="257254"/>
                </a:cubicBezTo>
                <a:cubicBezTo>
                  <a:pt x="385233" y="229949"/>
                  <a:pt x="406400" y="193040"/>
                  <a:pt x="406400" y="152400"/>
                </a:cubicBezTo>
                <a:cubicBezTo>
                  <a:pt x="406400" y="68263"/>
                  <a:pt x="315383" y="0"/>
                  <a:pt x="203200" y="0"/>
                </a:cubicBezTo>
                <a:cubicBezTo>
                  <a:pt x="91017" y="0"/>
                  <a:pt x="0" y="68263"/>
                  <a:pt x="0" y="152400"/>
                </a:cubicBezTo>
                <a:cubicBezTo>
                  <a:pt x="0" y="193040"/>
                  <a:pt x="21167" y="229949"/>
                  <a:pt x="55774" y="257254"/>
                </a:cubicBezTo>
                <a:cubicBezTo>
                  <a:pt x="73237" y="271066"/>
                  <a:pt x="88794" y="287099"/>
                  <a:pt x="96414" y="304800"/>
                </a:cubicBezTo>
                <a:lnTo>
                  <a:pt x="309880" y="304800"/>
                </a:lnTo>
                <a:close/>
                <a:moveTo>
                  <a:pt x="304800" y="342900"/>
                </a:moveTo>
                <a:lnTo>
                  <a:pt x="101600" y="342900"/>
                </a:lnTo>
                <a:lnTo>
                  <a:pt x="101600" y="355600"/>
                </a:lnTo>
                <a:cubicBezTo>
                  <a:pt x="101600" y="390684"/>
                  <a:pt x="139488" y="419100"/>
                  <a:pt x="186267" y="419100"/>
                </a:cubicBezTo>
                <a:lnTo>
                  <a:pt x="220133" y="419100"/>
                </a:lnTo>
                <a:cubicBezTo>
                  <a:pt x="266912" y="419100"/>
                  <a:pt x="304800" y="390684"/>
                  <a:pt x="304800" y="355600"/>
                </a:cubicBezTo>
                <a:lnTo>
                  <a:pt x="304800" y="342900"/>
                </a:lnTo>
                <a:close/>
                <a:moveTo>
                  <a:pt x="194733" y="88900"/>
                </a:moveTo>
                <a:cubicBezTo>
                  <a:pt x="152612" y="88900"/>
                  <a:pt x="118533" y="114459"/>
                  <a:pt x="118533" y="146050"/>
                </a:cubicBezTo>
                <a:cubicBezTo>
                  <a:pt x="118533" y="156607"/>
                  <a:pt x="107209" y="165100"/>
                  <a:pt x="93133" y="165100"/>
                </a:cubicBezTo>
                <a:cubicBezTo>
                  <a:pt x="79058" y="165100"/>
                  <a:pt x="67733" y="156607"/>
                  <a:pt x="67733" y="146050"/>
                </a:cubicBezTo>
                <a:cubicBezTo>
                  <a:pt x="67733" y="93424"/>
                  <a:pt x="124566" y="50800"/>
                  <a:pt x="194733" y="50800"/>
                </a:cubicBezTo>
                <a:cubicBezTo>
                  <a:pt x="208809" y="50800"/>
                  <a:pt x="220133" y="59293"/>
                  <a:pt x="220133" y="69850"/>
                </a:cubicBezTo>
                <a:cubicBezTo>
                  <a:pt x="220133" y="80407"/>
                  <a:pt x="208809" y="88900"/>
                  <a:pt x="194733" y="88900"/>
                </a:cubicBez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8" name="Text 5"/>
          <p:cNvSpPr/>
          <p:nvPr/>
        </p:nvSpPr>
        <p:spPr>
          <a:xfrm>
            <a:off x="11112500" y="1905000"/>
            <a:ext cx="4064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0541000" y="2540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Nairobi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highest average salary at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72,500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driven by one senior hire.</a:t>
            </a:r>
            <a:endParaRPr lang="en-US" sz="1600" dirty="0"/>
          </a:p>
          <a:p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Nakuru</a:t>
            </a:r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lowest average at </a:t>
            </a:r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48,000</a:t>
            </a:r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0541000" y="4318000"/>
            <a:ext cx="4572000" cy="0"/>
          </a:xfrm>
          <a:prstGeom prst="straightConnector1">
            <a:avLst/>
          </a:prstGeom>
          <a:noFill/>
          <a:ln w="12700">
            <a:solidFill>
              <a:srgbClr val="2A3544"/>
            </a:solidFill>
            <a:prstDash val="solid"/>
            <a:headEnd type="none"/>
            <a:tailEnd type="none"/>
          </a:ln>
        </p:spPr>
      </p:sp>
      <p:sp>
        <p:nvSpPr>
          <p:cNvPr id="11" name="Text 8"/>
          <p:cNvSpPr/>
          <p:nvPr/>
        </p:nvSpPr>
        <p:spPr>
          <a:xfrm>
            <a:off x="10541000" y="4572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Highest Salary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41000" y="4889500"/>
            <a:ext cx="2159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90,000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2954000" y="4572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Lowest Salary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2954000" y="4889500"/>
            <a:ext cx="2159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2DD4B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48,000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0541000" y="5588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Salary Range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541000" y="5905500"/>
            <a:ext cx="2159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KES 42,000</a:t>
            </a:r>
            <a:endParaRPr lang="en-US" sz="2400" dirty="0"/>
          </a:p>
        </p:txBody>
      </p:sp>
    </p:spTree>
  </p:cSld>
  <p:clrMapOvr>
    <a:masterClrMapping/>
  </p:clrMapOvr>
  <p:transition>
    <p:fade/>
    <p:spd val="me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589000" y="86360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SALARY ANALYSIS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Employee Salary Ranking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371600"/>
            <a:ext cx="762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All employees ranked from highest to lowest salary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968500"/>
          <a:ext cx="14732000" cy="6350000"/>
        </p:xfrm>
        <a:graphic>
          <a:graphicData uri="http://schemas.openxmlformats.org/drawingml/2006/table">
            <a:tbl>
              <a:tblPr/>
              <a:tblGrid>
                <a:gridCol w="1178560"/>
                <a:gridCol w="3683000"/>
                <a:gridCol w="2946400"/>
                <a:gridCol w="3241040"/>
                <a:gridCol w="3683000"/>
              </a:tblGrid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#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Name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City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Salary (KES)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vs. Average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1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George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Nairobi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90,000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+46.1%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2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Diana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70,000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+13.6%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3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Bob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Mombasa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62,000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+0.6%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Jamal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61,000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2DD4BF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-1.0%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Charlie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Kisumu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59,500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-3.4%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6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Hassan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Mombasa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58,000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-5.9%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7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Alice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Nairobi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55,000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-10.7%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8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Faith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Eldoret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51,000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-17.2%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634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5A62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9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Evan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Nakuru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solidFill>
                            <a:srgbClr val="F0F2F5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48,000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solidFill>
                            <a:srgbClr val="E57373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-22.1%</a:t>
                      </a:r>
                      <a:endParaRPr lang="en-US" sz="16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5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92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>
    <p:fade/>
    <p:spd val="med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7_131_856_Dark_Graph_Royalty_Free_Images.png">    </p:cNvPr>
          <p:cNvPicPr>
            <a:picLocks noChangeAspect="1"/>
          </p:cNvPicPr>
          <p:nvPr/>
        </p:nvPicPr>
        <p:blipFill>
          <a:blip r:embed="rId1"/>
          <a:srcRect l="13824" r="13824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91000"/>
                </a:srgbClr>
              </a:gs>
              <a:gs pos="60000">
                <a:srgbClr val="0F1923">
                  <a:alpha val="75000"/>
                </a:srgbClr>
              </a:gs>
              <a:gs pos="100000">
                <a:srgbClr val="0F1923">
                  <a:alpha val="38000"/>
                </a:srgbClr>
              </a:gs>
            </a:gsLst>
            <a:lin ang="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62000" y="2032000"/>
            <a:ext cx="5080000" cy="203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12000" dirty="0"/>
          </a:p>
        </p:txBody>
      </p:sp>
      <p:sp>
        <p:nvSpPr>
          <p:cNvPr id="5" name="Text 2"/>
          <p:cNvSpPr/>
          <p:nvPr/>
        </p:nvSpPr>
        <p:spPr>
          <a:xfrm>
            <a:off x="762000" y="4191000"/>
            <a:ext cx="889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spc="3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762000" y="5143500"/>
            <a:ext cx="1016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/>
          <p:nvPr/>
        </p:nvSpPr>
        <p:spPr>
          <a:xfrm>
            <a:off x="762000" y="53975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Headcount distribution, hiring trends, and strategic takeaways</a:t>
            </a:r>
            <a:endParaRPr lang="en-US" sz="2000" dirty="0"/>
          </a:p>
        </p:txBody>
      </p:sp>
    </p:spTree>
  </p:cSld>
  <p:clrMapOvr>
    <a:masterClrMapping/>
  </p:clrMapOvr>
  <p:transition>
    <p:fade/>
    <p:spd val="me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08000" y="86360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Headcount &amp; Hiring Trends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3"/>
          <p:cNvSpPr/>
          <p:nvPr/>
        </p:nvSpPr>
        <p:spPr>
          <a:xfrm>
            <a:off x="762000" y="1460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Headcount by City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62000" y="1905000"/>
          <a:ext cx="6604000" cy="482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8128000" y="14605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Hiring Trend by Month (2025)</a:t>
            </a:r>
            <a:endParaRPr lang="en-US" sz="16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8128000" y="1905000"/>
          <a:ext cx="7366000" cy="482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762000" y="7048500"/>
            <a:ext cx="14732000" cy="11430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Shape 6"/>
          <p:cNvSpPr/>
          <p:nvPr/>
        </p:nvSpPr>
        <p:spPr>
          <a:xfrm>
            <a:off x="1079500" y="73025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8100" y="38100"/>
                </a:moveTo>
                <a:cubicBezTo>
                  <a:pt x="38100" y="27563"/>
                  <a:pt x="29587" y="19050"/>
                  <a:pt x="19050" y="19050"/>
                </a:cubicBezTo>
                <a:cubicBezTo>
                  <a:pt x="8513" y="19050"/>
                  <a:pt x="0" y="27563"/>
                  <a:pt x="0" y="38100"/>
                </a:cubicBezTo>
                <a:lnTo>
                  <a:pt x="0" y="238125"/>
                </a:lnTo>
                <a:cubicBezTo>
                  <a:pt x="0" y="264438"/>
                  <a:pt x="21312" y="285750"/>
                  <a:pt x="47625" y="285750"/>
                </a:cubicBezTo>
                <a:lnTo>
                  <a:pt x="285750" y="285750"/>
                </a:lnTo>
                <a:cubicBezTo>
                  <a:pt x="296287" y="285750"/>
                  <a:pt x="304800" y="277237"/>
                  <a:pt x="304800" y="266700"/>
                </a:cubicBezTo>
                <a:cubicBezTo>
                  <a:pt x="304800" y="256163"/>
                  <a:pt x="296287" y="247650"/>
                  <a:pt x="285750" y="247650"/>
                </a:cubicBezTo>
                <a:lnTo>
                  <a:pt x="47625" y="247650"/>
                </a:lnTo>
                <a:cubicBezTo>
                  <a:pt x="42386" y="247650"/>
                  <a:pt x="38100" y="243364"/>
                  <a:pt x="38100" y="238125"/>
                </a:cubicBezTo>
                <a:lnTo>
                  <a:pt x="38100" y="38100"/>
                </a:lnTo>
                <a:close/>
                <a:moveTo>
                  <a:pt x="280154" y="89654"/>
                </a:moveTo>
                <a:cubicBezTo>
                  <a:pt x="287595" y="82213"/>
                  <a:pt x="287595" y="70128"/>
                  <a:pt x="280154" y="62686"/>
                </a:cubicBezTo>
                <a:cubicBezTo>
                  <a:pt x="272713" y="55245"/>
                  <a:pt x="260628" y="55245"/>
                  <a:pt x="253186" y="62686"/>
                </a:cubicBezTo>
                <a:lnTo>
                  <a:pt x="190500" y="125432"/>
                </a:lnTo>
                <a:lnTo>
                  <a:pt x="156329" y="91321"/>
                </a:lnTo>
                <a:cubicBezTo>
                  <a:pt x="148888" y="83880"/>
                  <a:pt x="136803" y="83880"/>
                  <a:pt x="129361" y="91321"/>
                </a:cubicBezTo>
                <a:lnTo>
                  <a:pt x="72211" y="148471"/>
                </a:lnTo>
                <a:cubicBezTo>
                  <a:pt x="64770" y="155912"/>
                  <a:pt x="64770" y="167997"/>
                  <a:pt x="72211" y="175439"/>
                </a:cubicBezTo>
                <a:cubicBezTo>
                  <a:pt x="79653" y="182880"/>
                  <a:pt x="91738" y="182880"/>
                  <a:pt x="99179" y="175439"/>
                </a:cubicBezTo>
                <a:lnTo>
                  <a:pt x="142875" y="131743"/>
                </a:lnTo>
                <a:lnTo>
                  <a:pt x="177046" y="165914"/>
                </a:lnTo>
                <a:cubicBezTo>
                  <a:pt x="184487" y="173355"/>
                  <a:pt x="196572" y="173355"/>
                  <a:pt x="204014" y="165914"/>
                </a:cubicBezTo>
                <a:lnTo>
                  <a:pt x="280214" y="89714"/>
                </a:lnTo>
                <a:close/>
              </a:path>
            </a:pathLst>
          </a:custGeom>
          <a:solidFill>
            <a:srgbClr val="F5A623"/>
          </a:solidFill>
          <a:ln/>
        </p:spPr>
      </p:sp>
      <p:sp>
        <p:nvSpPr>
          <p:cNvPr id="11" name="Text 7"/>
          <p:cNvSpPr/>
          <p:nvPr/>
        </p:nvSpPr>
        <p:spPr>
          <a:xfrm>
            <a:off x="1587500" y="7175500"/>
            <a:ext cx="13589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5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Finding: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Hiring was steady through the first five months of 2025, with 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two new hires every month except January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Kisumu has the largest team (3 employees), followed by Nairobi and Mombasa (2 each).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08000" y="8636000"/>
            <a:ext cx="254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spc="2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WORKFORCE INSIGHTS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571500"/>
            <a:ext cx="8890000" cy="533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Insights &amp; Takeaways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181100"/>
            <a:ext cx="762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7620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6" name="Text 4"/>
          <p:cNvSpPr/>
          <p:nvPr/>
        </p:nvSpPr>
        <p:spPr>
          <a:xfrm>
            <a:off x="10795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0795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City Salary Disparity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795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Nairobi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leads with the highest average salary at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72,500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driven by one senior hire. 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2DD4B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Nakuru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lowest at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48,000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a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51% gap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between highest and lowest.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318500" y="15875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0" name="Text 8"/>
          <p:cNvSpPr/>
          <p:nvPr/>
        </p:nvSpPr>
        <p:spPr>
          <a:xfrm>
            <a:off x="8636000" y="17780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636000" y="23495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Headcount Distribution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36000" y="27940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Kisumu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has the largest headcount with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 employees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Nairobi and Mombasa each have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 employees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while Eldoret and Nakuru have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 each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620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4" name="Text 12"/>
          <p:cNvSpPr/>
          <p:nvPr/>
        </p:nvSpPr>
        <p:spPr>
          <a:xfrm>
            <a:off x="10795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0795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Steady Hiring Momentum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795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Hiring was consistent through the first five months of 2025, with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two new hires every month except January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This shows planned, steady workforce growth.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18500" y="5207000"/>
            <a:ext cx="7175500" cy="3238500"/>
          </a:xfrm>
          <a:prstGeom prst="rect">
            <a:avLst/>
          </a:prstGeom>
          <a:solidFill>
            <a:srgbClr val="1A2634"/>
          </a:solidFill>
          <a:ln/>
        </p:spPr>
      </p:sp>
      <p:sp>
        <p:nvSpPr>
          <p:cNvPr id="18" name="Text 16"/>
          <p:cNvSpPr/>
          <p:nvPr/>
        </p:nvSpPr>
        <p:spPr>
          <a:xfrm>
            <a:off x="8636000" y="5397500"/>
            <a:ext cx="101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200" dirty="0">
                <a:solidFill>
                  <a:srgbClr val="F5A623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636000" y="5969000"/>
            <a:ext cx="65405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Payroll Growth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636000" y="6413500"/>
            <a:ext cx="65405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total salary expense is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554,500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, averaging </a:t>
            </a:r>
            <a:pPr algn="l">
              <a:lnSpc>
                <a:spcPct val="160000"/>
              </a:lnSpc>
            </a:pPr>
            <a:r>
              <a:rPr lang="en-US" sz="1600" b="1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KES 61,611</a:t>
            </a:r>
            <a:pPr algn="l">
              <a:lnSpc>
                <a:spcPct val="160000"/>
              </a:lnSpc>
            </a:pPr>
            <a:r>
              <a:rPr lang="en-US" sz="16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per employee. Payroll ramped from KES 55,000 in January to KES 554,500 by May as headcount grew from 1 to 9.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m77sgby2vvfiu/mnt/agents/output/employee-dashboard/images/8_Data_visualization_background_dark.png">    </p:cNvPr>
          <p:cNvPicPr>
            <a:picLocks noChangeAspect="1"/>
          </p:cNvPicPr>
          <p:nvPr/>
        </p:nvPicPr>
        <p:blipFill>
          <a:blip r:embed="rId1"/>
          <a:srcRect l="0" r="0" t="7784" b="7784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rotWithShape="1" flip="none">
            <a:gsLst>
              <a:gs pos="0">
                <a:srgbClr val="0F1923">
                  <a:alpha val="25000"/>
                </a:srgbClr>
              </a:gs>
              <a:gs pos="40000">
                <a:srgbClr val="0F1923">
                  <a:alpha val="75000"/>
                </a:srgbClr>
              </a:gs>
              <a:gs pos="100000">
                <a:srgbClr val="0F1923">
                  <a:alpha val="94000"/>
                </a:srgbClr>
              </a:gs>
            </a:gsLst>
            <a:lin ang="5400000" scaled="1"/>
          </a:gra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858000" y="2921000"/>
            <a:ext cx="2540000" cy="381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Text 2"/>
          <p:cNvSpPr/>
          <p:nvPr/>
        </p:nvSpPr>
        <p:spPr>
          <a:xfrm>
            <a:off x="3048000" y="3175000"/>
            <a:ext cx="1016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5600" spc="600" kern="0" dirty="0">
                <a:solidFill>
                  <a:srgbClr val="F0F2F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6" name="Text 3"/>
          <p:cNvSpPr/>
          <p:nvPr/>
        </p:nvSpPr>
        <p:spPr>
          <a:xfrm>
            <a:off x="3683000" y="4318000"/>
            <a:ext cx="889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000" dirty="0">
                <a:solidFill>
                  <a:srgbClr val="8B95A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Analytics Portfolio Project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318000" y="4953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0F2F5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Prepared by </a:t>
            </a:r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F5A623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Hassan Jumaa (Riq)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3683000" y="5715000"/>
            <a:ext cx="889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spc="300" kern="0" dirty="0">
                <a:solidFill>
                  <a:srgbClr val="8B95A5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PYTHON  ·  MYSQL  ·  SQL  ·  POWER BI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Employee Salary &amp; Headcount Dashboard</dc:title>
  <dc:subject>Employee Salary &amp; Headcount Dashboard</dc:subject>
  <dc:creator>Kimi</dc:creator>
  <cp:lastModifiedBy>Kimi</cp:lastModifiedBy>
  <cp:revision>1</cp:revision>
  <dcterms:created xsi:type="dcterms:W3CDTF">2026-07-06T19:14:18Z</dcterms:created>
  <dcterms:modified xsi:type="dcterms:W3CDTF">2026-07-06T19:14:18Z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{"Label":"Employee Salary &amp; Headcount Dashboard","ContentProducer":"001191110108MACG2KBH8F10000","ProduceID":"19f38d18-1b12-8d16-8000-0000f10c460a","ReservedCode1":"","ContentPropagator":"001191110108MACG2KBH8F20000","PropagateID":"19f38cdc-06a2-81e7-8000-095417dcebc5","ReservedCode2":""}</vt:lpwstr>
  </property>
</Properties>
</file>